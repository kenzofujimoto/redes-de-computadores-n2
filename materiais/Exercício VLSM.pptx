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7" r:id="rId7"/>
    <p:sldId id="272" r:id="rId8"/>
    <p:sldId id="261" r:id="rId9"/>
    <p:sldId id="265" r:id="rId10"/>
    <p:sldId id="263" r:id="rId11"/>
    <p:sldId id="266" r:id="rId12"/>
    <p:sldId id="264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68" autoAdjust="0"/>
    <p:restoredTop sz="94660"/>
  </p:normalViewPr>
  <p:slideViewPr>
    <p:cSldViewPr snapToGrid="0">
      <p:cViewPr varScale="1">
        <p:scale>
          <a:sx n="64" d="100"/>
          <a:sy n="64" d="100"/>
        </p:scale>
        <p:origin x="13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ELO TEIXEIRA DE AZEVEDO" userId="2f55ec89-e3f7-4a68-aea6-0aaee841bfca" providerId="ADAL" clId="{70DAA6A6-86CC-45DC-9CBB-DFEF628724C4}"/>
    <pc:docChg chg="modSld">
      <pc:chgData name="MARCELO TEIXEIRA DE AZEVEDO" userId="2f55ec89-e3f7-4a68-aea6-0aaee841bfca" providerId="ADAL" clId="{70DAA6A6-86CC-45DC-9CBB-DFEF628724C4}" dt="2023-11-06T20:07:28.128" v="39" actId="20577"/>
      <pc:docMkLst>
        <pc:docMk/>
      </pc:docMkLst>
      <pc:sldChg chg="modSp mod">
        <pc:chgData name="MARCELO TEIXEIRA DE AZEVEDO" userId="2f55ec89-e3f7-4a68-aea6-0aaee841bfca" providerId="ADAL" clId="{70DAA6A6-86CC-45DC-9CBB-DFEF628724C4}" dt="2023-11-06T20:07:28.128" v="39" actId="20577"/>
        <pc:sldMkLst>
          <pc:docMk/>
          <pc:sldMk cId="4022886822" sldId="258"/>
        </pc:sldMkLst>
        <pc:graphicFrameChg chg="modGraphic">
          <ac:chgData name="MARCELO TEIXEIRA DE AZEVEDO" userId="2f55ec89-e3f7-4a68-aea6-0aaee841bfca" providerId="ADAL" clId="{70DAA6A6-86CC-45DC-9CBB-DFEF628724C4}" dt="2023-11-06T20:07:28.128" v="39" actId="20577"/>
          <ac:graphicFrameMkLst>
            <pc:docMk/>
            <pc:sldMk cId="4022886822" sldId="258"/>
            <ac:graphicFrameMk id="9" creationId="{9AF6E5FA-3716-4D38-B121-05D0188C3D9A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902E55-FA9C-4600-B79E-940C3BFFE6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CB8BA14-959E-424C-BD30-8521765F27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EFC78D-4C7D-4950-9C80-3CA8B90CF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914D-6544-4778-9D24-85725A7D68D8}" type="datetimeFigureOut">
              <a:rPr lang="pt-BR" smtClean="0"/>
              <a:t>06/11/2023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FC77EE-0504-44C8-AAE3-C4B9670FB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C811D2-E504-4FB6-AFAE-CAF99F33F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D6BC6-1402-41EB-8DC4-7E0692DA50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9727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E83175-ECDC-44F7-93BF-19A9112EB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0B43E3-E3C5-42C7-9CE3-1CB181F42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B41285-556B-4DB7-BFB0-39F9E5264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914D-6544-4778-9D24-85725A7D68D8}" type="datetimeFigureOut">
              <a:rPr lang="pt-BR" smtClean="0"/>
              <a:t>06/11/2023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B3407F-0A38-4730-A907-9FAE55250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CF8EE4-646E-409E-BCDA-44FDB513C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D6BC6-1402-41EB-8DC4-7E0692DA50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1757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072A5F-6002-436A-9E17-DE9A0F9B1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045354A-86D5-4C54-8C63-BB9D36BD2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314E62-BA4C-4935-9258-65B655030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914D-6544-4778-9D24-85725A7D68D8}" type="datetimeFigureOut">
              <a:rPr lang="pt-BR" smtClean="0"/>
              <a:t>06/11/2023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9B98F9-9F99-437C-80DD-5B5C7AA70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412B68-0E01-4313-A2A5-63F79C3D8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D6BC6-1402-41EB-8DC4-7E0692DA50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6984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C9BD2-1983-4393-8E66-757AB36DA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062161-BFCE-43A6-836F-A8097AA6F1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64AB421-B778-4769-9554-1180603C3B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1685C7C-F6CC-439A-AD40-317D5E6D1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914D-6544-4778-9D24-85725A7D68D8}" type="datetimeFigureOut">
              <a:rPr lang="pt-BR" smtClean="0"/>
              <a:t>06/11/2023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C5657CB-A9C2-439D-87DC-2B223B007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19AC736-1AC4-4196-ACBE-05E4312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D6BC6-1402-41EB-8DC4-7E0692DA50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0076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F5BBBA-D0E4-491D-B4DB-B555B5457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1A5AD72-CED8-465E-ADB0-5AA540310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7B2ABC4-11EB-4480-A8FA-D6AEF1EC8A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5FAC8B9-64B1-4015-A66F-D9AA72F732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35AF700-34A0-4122-9C49-189B3B7A5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88BD24D-8C95-4180-AEE2-77BB3D55D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914D-6544-4778-9D24-85725A7D68D8}" type="datetimeFigureOut">
              <a:rPr lang="pt-BR" smtClean="0"/>
              <a:t>06/11/2023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577EE6C-1C73-4DF1-9321-03A3BA42F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AA22A9F-6307-4F71-9DFE-B4C032F9A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D6BC6-1402-41EB-8DC4-7E0692DA50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2790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F625D2-E321-483F-B972-E5B794E5D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87D0F87-4224-451F-A8BE-85A2DF7BC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914D-6544-4778-9D24-85725A7D68D8}" type="datetimeFigureOut">
              <a:rPr lang="pt-BR" smtClean="0"/>
              <a:t>06/11/2023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E6DF2C-49E2-4C15-8F7B-8EAA59517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F4DA90B-47EA-4330-A66B-2935EA975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D6BC6-1402-41EB-8DC4-7E0692DA50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4629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63393C9-DEA3-4B24-97C8-140A2999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914D-6544-4778-9D24-85725A7D68D8}" type="datetimeFigureOut">
              <a:rPr lang="pt-BR" smtClean="0"/>
              <a:t>06/11/2023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783F0F6-3427-4063-910F-5F7126818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1CB1E36-7EE3-4991-B5FB-E507DE562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D6BC6-1402-41EB-8DC4-7E0692DA50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3916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9A401C-C928-49CC-A1C9-A43CB3EE2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28935B-9D3A-4619-AB99-C7ECDC6BA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C443D49-C728-4598-90BF-C2232482BD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918B9F7-3B39-4703-B10D-B65ECC8E3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914D-6544-4778-9D24-85725A7D68D8}" type="datetimeFigureOut">
              <a:rPr lang="pt-BR" smtClean="0"/>
              <a:t>06/11/2023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624329A-A7BB-49FF-851E-968E17B7F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DB175C0-1B83-4C73-B9DF-41EA19AE9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D6BC6-1402-41EB-8DC4-7E0692DA50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664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726014-EF33-400E-88DB-8176DB3B5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A0C4B55-EC7A-4A57-9676-8D5D201DC6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BAAA2E1-AD94-4510-B0C9-DB9EC41CE1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E347F2F-F01B-4A2E-8C98-0861F1CAB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914D-6544-4778-9D24-85725A7D68D8}" type="datetimeFigureOut">
              <a:rPr lang="pt-BR" smtClean="0"/>
              <a:t>06/11/2023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84496A8-B5E3-4E66-BA59-C895A8731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38BC246-7EE6-4387-A2B0-A2ACD2F6D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D6BC6-1402-41EB-8DC4-7E0692DA50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3618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3B2C06-1BA4-4C3E-AFD8-E118EC914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BCA3CB8-8100-4899-AF32-EA877B5740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B89B80-810B-4303-8BD8-D2305F5E5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914D-6544-4778-9D24-85725A7D68D8}" type="datetimeFigureOut">
              <a:rPr lang="pt-BR" smtClean="0"/>
              <a:t>06/11/2023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497C17-3E4C-48DE-9385-498B4EC74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A36D7F-FDA4-47B4-9509-96B8DB66F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D6BC6-1402-41EB-8DC4-7E0692DA50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6726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B4DDAC1-0617-4C23-AD37-8134A21104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F3EACB7-E5C2-441E-95CD-34C1263D55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84F8FD-D32A-4DB3-A594-CB4C9183A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914D-6544-4778-9D24-85725A7D68D8}" type="datetimeFigureOut">
              <a:rPr lang="pt-BR" smtClean="0"/>
              <a:t>06/11/2023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A39A0E-21CE-4E09-BC6E-91624BBB5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C40E7F-FC5A-4E6E-93CA-84E931B89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D6BC6-1402-41EB-8DC4-7E0692DA50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3960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4B18196-0EFC-4E36-8F86-086C3C74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5275982-7CF2-435B-B9ED-2FD332123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B0BF0C-53F6-4626-B171-49F85E9571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9C914D-6544-4778-9D24-85725A7D68D8}" type="datetimeFigureOut">
              <a:rPr lang="pt-BR" smtClean="0"/>
              <a:t>06/11/2023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E69CBC-6D1D-40DC-AA23-A3EDE6D012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9CEB90-8144-4B16-A228-43CB877B99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D6BC6-1402-41EB-8DC4-7E0692DA50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5817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14F60B7-5B11-4972-A6E7-FB1132CB35BA}"/>
              </a:ext>
            </a:extLst>
          </p:cNvPr>
          <p:cNvSpPr txBox="1"/>
          <p:nvPr/>
        </p:nvSpPr>
        <p:spPr>
          <a:xfrm>
            <a:off x="1893108" y="955590"/>
            <a:ext cx="8521115" cy="1908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5000" b="1" dirty="0">
                <a:solidFill>
                  <a:srgbClr val="0070C0"/>
                </a:solidFill>
              </a:rPr>
              <a:t>VLSM</a:t>
            </a:r>
          </a:p>
          <a:p>
            <a:pPr algn="ctr"/>
            <a:r>
              <a:rPr lang="pt-BR" sz="5000" b="0" i="0" dirty="0">
                <a:solidFill>
                  <a:srgbClr val="0070C0"/>
                </a:solidFill>
                <a:effectLst/>
              </a:rPr>
              <a:t>V</a:t>
            </a:r>
            <a:r>
              <a:rPr lang="pt-BR" sz="5000" b="0" i="0" dirty="0">
                <a:solidFill>
                  <a:srgbClr val="3C4043"/>
                </a:solidFill>
                <a:effectLst/>
              </a:rPr>
              <a:t>ariable </a:t>
            </a:r>
            <a:r>
              <a:rPr lang="pt-BR" sz="5000" b="0" i="0" dirty="0">
                <a:solidFill>
                  <a:srgbClr val="0070C0"/>
                </a:solidFill>
                <a:effectLst/>
              </a:rPr>
              <a:t>L</a:t>
            </a:r>
            <a:r>
              <a:rPr lang="pt-BR" sz="5000" b="0" i="0" dirty="0">
                <a:solidFill>
                  <a:srgbClr val="3C4043"/>
                </a:solidFill>
                <a:effectLst/>
              </a:rPr>
              <a:t>ength </a:t>
            </a:r>
            <a:r>
              <a:rPr lang="pt-BR" sz="5000" b="0" i="0" dirty="0">
                <a:solidFill>
                  <a:srgbClr val="0070C0"/>
                </a:solidFill>
                <a:effectLst/>
              </a:rPr>
              <a:t>S</a:t>
            </a:r>
            <a:r>
              <a:rPr lang="pt-BR" sz="5000" b="0" i="0" dirty="0">
                <a:solidFill>
                  <a:srgbClr val="3C4043"/>
                </a:solidFill>
                <a:effectLst/>
              </a:rPr>
              <a:t>ubnet </a:t>
            </a:r>
            <a:r>
              <a:rPr lang="pt-BR" sz="5000" b="0" i="0" dirty="0">
                <a:solidFill>
                  <a:srgbClr val="0070C0"/>
                </a:solidFill>
                <a:effectLst/>
              </a:rPr>
              <a:t>M</a:t>
            </a:r>
            <a:r>
              <a:rPr lang="pt-BR" sz="5000" b="0" i="0" dirty="0">
                <a:solidFill>
                  <a:srgbClr val="3C4043"/>
                </a:solidFill>
                <a:effectLst/>
              </a:rPr>
              <a:t>asking</a:t>
            </a:r>
            <a:endParaRPr lang="pt-BR" sz="5000" dirty="0"/>
          </a:p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0F62A76-F1F1-47F2-8462-F683CDC2BBBC}"/>
              </a:ext>
            </a:extLst>
          </p:cNvPr>
          <p:cNvSpPr txBox="1"/>
          <p:nvPr/>
        </p:nvSpPr>
        <p:spPr>
          <a:xfrm>
            <a:off x="2312175" y="4427839"/>
            <a:ext cx="7567649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85800" indent="-685800" algn="ctr">
              <a:buFont typeface="Arial" panose="020B0604020202020204" pitchFamily="34" charset="0"/>
              <a:buChar char="•"/>
            </a:pPr>
            <a:r>
              <a:rPr lang="pt-BR" sz="5000" dirty="0"/>
              <a:t>Cálculo de Sub-redes IPv4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0488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E23D660-DBE2-4CEE-BFCB-467DE2205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3355"/>
            <a:ext cx="12192000" cy="4602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096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AE7B3928-E666-4402-B643-D8038A651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2" y="557191"/>
            <a:ext cx="12110089" cy="1271609"/>
          </a:xfrm>
          <a:prstGeom prst="rect">
            <a:avLst/>
          </a:prstGeom>
        </p:spPr>
      </p:pic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9AF6E5FA-3716-4D38-B121-05D0188C3D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5303564"/>
              </p:ext>
            </p:extLst>
          </p:nvPr>
        </p:nvGraphicFramePr>
        <p:xfrm>
          <a:off x="220362" y="4039127"/>
          <a:ext cx="5546124" cy="2440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7649">
                  <a:extLst>
                    <a:ext uri="{9D8B030D-6E8A-4147-A177-3AD203B41FA5}">
                      <a16:colId xmlns:a16="http://schemas.microsoft.com/office/drawing/2014/main" val="3769595626"/>
                    </a:ext>
                  </a:extLst>
                </a:gridCol>
                <a:gridCol w="790832">
                  <a:extLst>
                    <a:ext uri="{9D8B030D-6E8A-4147-A177-3AD203B41FA5}">
                      <a16:colId xmlns:a16="http://schemas.microsoft.com/office/drawing/2014/main" val="3170869541"/>
                    </a:ext>
                  </a:extLst>
                </a:gridCol>
                <a:gridCol w="3797643">
                  <a:extLst>
                    <a:ext uri="{9D8B030D-6E8A-4147-A177-3AD203B41FA5}">
                      <a16:colId xmlns:a16="http://schemas.microsoft.com/office/drawing/2014/main" val="2643765707"/>
                    </a:ext>
                  </a:extLst>
                </a:gridCol>
              </a:tblGrid>
              <a:tr h="439540"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</a:rPr>
                        <a:t>Rede</a:t>
                      </a:r>
                      <a:endParaRPr lang="pt-BR" sz="15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</a:rPr>
                        <a:t>Hosts</a:t>
                      </a:r>
                      <a:endParaRPr lang="pt-BR" sz="15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</a:rPr>
                        <a:t>Endereço de Rede / Máscara</a:t>
                      </a:r>
                      <a:endParaRPr lang="pt-BR" sz="15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643283"/>
                  </a:ext>
                </a:extLst>
              </a:tr>
              <a:tr h="400251"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</a:rPr>
                        <a:t>VLAN</a:t>
                      </a:r>
                      <a:r>
                        <a:rPr lang="pt-BR" sz="1500" b="1" baseline="0" dirty="0">
                          <a:solidFill>
                            <a:schemeClr val="tx1"/>
                          </a:solidFill>
                          <a:latin typeface="+mn-lt"/>
                        </a:rPr>
                        <a:t> A</a:t>
                      </a:r>
                      <a:endParaRPr lang="pt-BR" sz="15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</a:rPr>
                        <a:t>1000</a:t>
                      </a:r>
                      <a:endParaRPr lang="pt-BR" sz="15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  <a:latin typeface="+mn-lt"/>
                          <a:cs typeface="Arial" pitchFamily="34" charset="0"/>
                        </a:rPr>
                        <a:t>10.0.0.0/22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227974"/>
                  </a:ext>
                </a:extLst>
              </a:tr>
              <a:tr h="400251"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</a:rPr>
                        <a:t>VLAN B</a:t>
                      </a:r>
                      <a:endParaRPr lang="pt-BR" sz="15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</a:rPr>
                        <a:t>200</a:t>
                      </a:r>
                      <a:endParaRPr lang="pt-BR" sz="15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  <a:latin typeface="+mn-lt"/>
                          <a:cs typeface="Arial" pitchFamily="34" charset="0"/>
                        </a:rPr>
                        <a:t>10.0.4.0/24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380704"/>
                  </a:ext>
                </a:extLst>
              </a:tr>
              <a:tr h="400251"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</a:rPr>
                        <a:t>VLAN C</a:t>
                      </a:r>
                      <a:endParaRPr lang="pt-BR" sz="15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</a:rPr>
                        <a:t>50</a:t>
                      </a:r>
                      <a:endParaRPr lang="pt-BR" sz="15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  <a:latin typeface="+mn-lt"/>
                          <a:cs typeface="Arial" pitchFamily="34" charset="0"/>
                        </a:rPr>
                        <a:t>10.0.5.0/26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6175943"/>
                  </a:ext>
                </a:extLst>
              </a:tr>
              <a:tr h="400251"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</a:rPr>
                        <a:t>VLAN D</a:t>
                      </a:r>
                      <a:endParaRPr lang="pt-BR" sz="15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</a:rPr>
                        <a:t>10</a:t>
                      </a:r>
                      <a:endParaRPr lang="pt-BR" sz="15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  <a:latin typeface="+mn-lt"/>
                          <a:cs typeface="Arial" pitchFamily="34" charset="0"/>
                        </a:rPr>
                        <a:t>10.0.5.64/28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5913101"/>
                  </a:ext>
                </a:extLst>
              </a:tr>
              <a:tr h="400251"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</a:rPr>
                        <a:t>VLAN E</a:t>
                      </a:r>
                      <a:endParaRPr lang="pt-BR" sz="15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pt-BR" sz="15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  <a:latin typeface="+mn-lt"/>
                          <a:cs typeface="Arial" pitchFamily="34" charset="0"/>
                        </a:rPr>
                        <a:t>10.0.5.80/30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2682433"/>
                  </a:ext>
                </a:extLst>
              </a:tr>
            </a:tbl>
          </a:graphicData>
        </a:graphic>
      </p:graphicFrame>
      <p:sp>
        <p:nvSpPr>
          <p:cNvPr id="2" name="CaixaDeTexto 1">
            <a:extLst>
              <a:ext uri="{FF2B5EF4-FFF2-40B4-BE49-F238E27FC236}">
                <a16:creationId xmlns:a16="http://schemas.microsoft.com/office/drawing/2014/main" id="{AE57A9F9-5DE3-4E74-850B-B68DAFFDFA69}"/>
              </a:ext>
            </a:extLst>
          </p:cNvPr>
          <p:cNvSpPr txBox="1"/>
          <p:nvPr/>
        </p:nvSpPr>
        <p:spPr>
          <a:xfrm>
            <a:off x="5593491" y="69911"/>
            <a:ext cx="11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10.0.0.0/8</a:t>
            </a:r>
          </a:p>
        </p:txBody>
      </p:sp>
    </p:spTree>
    <p:extLst>
      <p:ext uri="{BB962C8B-B14F-4D97-AF65-F5344CB8AC3E}">
        <p14:creationId xmlns:p14="http://schemas.microsoft.com/office/powerpoint/2010/main" val="4022886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634B34C-E4E5-4510-8165-069FD7FEE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4933"/>
            <a:ext cx="12192000" cy="4652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741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AE7B3928-E666-4402-B643-D8038A651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9" y="537518"/>
            <a:ext cx="12062081" cy="1266568"/>
          </a:xfrm>
          <a:prstGeom prst="rect">
            <a:avLst/>
          </a:prstGeom>
        </p:spPr>
      </p:pic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9AF6E5FA-3716-4D38-B121-05D0188C3D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246085"/>
              </p:ext>
            </p:extLst>
          </p:nvPr>
        </p:nvGraphicFramePr>
        <p:xfrm>
          <a:off x="220362" y="4039127"/>
          <a:ext cx="5546124" cy="2440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7649">
                  <a:extLst>
                    <a:ext uri="{9D8B030D-6E8A-4147-A177-3AD203B41FA5}">
                      <a16:colId xmlns:a16="http://schemas.microsoft.com/office/drawing/2014/main" val="3769595626"/>
                    </a:ext>
                  </a:extLst>
                </a:gridCol>
                <a:gridCol w="790832">
                  <a:extLst>
                    <a:ext uri="{9D8B030D-6E8A-4147-A177-3AD203B41FA5}">
                      <a16:colId xmlns:a16="http://schemas.microsoft.com/office/drawing/2014/main" val="3170869541"/>
                    </a:ext>
                  </a:extLst>
                </a:gridCol>
                <a:gridCol w="3797643">
                  <a:extLst>
                    <a:ext uri="{9D8B030D-6E8A-4147-A177-3AD203B41FA5}">
                      <a16:colId xmlns:a16="http://schemas.microsoft.com/office/drawing/2014/main" val="2643765707"/>
                    </a:ext>
                  </a:extLst>
                </a:gridCol>
              </a:tblGrid>
              <a:tr h="439540"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</a:rPr>
                        <a:t>Rede</a:t>
                      </a:r>
                      <a:endParaRPr lang="pt-BR" sz="15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</a:rPr>
                        <a:t>Hosts</a:t>
                      </a:r>
                      <a:endParaRPr lang="pt-BR" sz="15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</a:rPr>
                        <a:t>Endereço de Rede / Máscara</a:t>
                      </a:r>
                      <a:endParaRPr lang="pt-BR" sz="15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643283"/>
                  </a:ext>
                </a:extLst>
              </a:tr>
              <a:tr h="400251"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</a:rPr>
                        <a:t>VLAN</a:t>
                      </a:r>
                      <a:r>
                        <a:rPr lang="pt-BR" sz="1500" b="1" baseline="0" dirty="0">
                          <a:solidFill>
                            <a:schemeClr val="tx1"/>
                          </a:solidFill>
                          <a:latin typeface="+mn-lt"/>
                        </a:rPr>
                        <a:t> A</a:t>
                      </a:r>
                      <a:endParaRPr lang="pt-BR" sz="15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  <a:cs typeface="Arial" pitchFamily="34" charset="0"/>
                        </a:rPr>
                        <a:t>30000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227974"/>
                  </a:ext>
                </a:extLst>
              </a:tr>
              <a:tr h="400251"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</a:rPr>
                        <a:t>VLAN B</a:t>
                      </a:r>
                      <a:endParaRPr lang="pt-BR" sz="15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  <a:cs typeface="Arial" pitchFamily="34" charset="0"/>
                        </a:rPr>
                        <a:t>2000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380704"/>
                  </a:ext>
                </a:extLst>
              </a:tr>
              <a:tr h="400251"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</a:rPr>
                        <a:t>VLAN C</a:t>
                      </a:r>
                      <a:endParaRPr lang="pt-BR" sz="15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  <a:cs typeface="Arial" pitchFamily="34" charset="0"/>
                        </a:rPr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6175943"/>
                  </a:ext>
                </a:extLst>
              </a:tr>
              <a:tr h="400251"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</a:rPr>
                        <a:t>VLAN D</a:t>
                      </a:r>
                      <a:endParaRPr lang="pt-BR" sz="15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  <a:cs typeface="Arial" pitchFamily="34" charset="0"/>
                        </a:rPr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5913101"/>
                  </a:ext>
                </a:extLst>
              </a:tr>
              <a:tr h="400251"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</a:rPr>
                        <a:t>VLAN E</a:t>
                      </a:r>
                      <a:endParaRPr lang="pt-BR" sz="15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  <a:cs typeface="Arial" pitchFamily="34" charset="0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2682433"/>
                  </a:ext>
                </a:extLst>
              </a:tr>
            </a:tbl>
          </a:graphicData>
        </a:graphic>
      </p:graphicFrame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43BD84F7-F155-4964-9C06-8E9E98CAB0A5}"/>
              </a:ext>
            </a:extLst>
          </p:cNvPr>
          <p:cNvCxnSpPr>
            <a:cxnSpLocks/>
          </p:cNvCxnSpPr>
          <p:nvPr/>
        </p:nvCxnSpPr>
        <p:spPr>
          <a:xfrm>
            <a:off x="9974688" y="3772818"/>
            <a:ext cx="0" cy="2707105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653F883C-597D-4AE5-804B-9F17B1248471}"/>
              </a:ext>
            </a:extLst>
          </p:cNvPr>
          <p:cNvCxnSpPr>
            <a:cxnSpLocks/>
          </p:cNvCxnSpPr>
          <p:nvPr/>
        </p:nvCxnSpPr>
        <p:spPr>
          <a:xfrm>
            <a:off x="9249686" y="3772819"/>
            <a:ext cx="0" cy="2707105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87D7E29E-0E6A-4435-BD18-948F62519401}"/>
              </a:ext>
            </a:extLst>
          </p:cNvPr>
          <p:cNvCxnSpPr>
            <a:cxnSpLocks/>
          </p:cNvCxnSpPr>
          <p:nvPr/>
        </p:nvCxnSpPr>
        <p:spPr>
          <a:xfrm>
            <a:off x="10676129" y="3772818"/>
            <a:ext cx="0" cy="2707105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3F7E1DD0-E02A-4CFA-8919-834A193CAEAF}"/>
              </a:ext>
            </a:extLst>
          </p:cNvPr>
          <p:cNvCxnSpPr>
            <a:cxnSpLocks/>
          </p:cNvCxnSpPr>
          <p:nvPr/>
        </p:nvCxnSpPr>
        <p:spPr>
          <a:xfrm>
            <a:off x="11302573" y="3772817"/>
            <a:ext cx="0" cy="2707105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311D938F-0CDE-44B6-9935-BD1AE747EAF8}"/>
              </a:ext>
            </a:extLst>
          </p:cNvPr>
          <p:cNvCxnSpPr>
            <a:cxnSpLocks/>
          </p:cNvCxnSpPr>
          <p:nvPr/>
        </p:nvCxnSpPr>
        <p:spPr>
          <a:xfrm>
            <a:off x="8502299" y="3673966"/>
            <a:ext cx="0" cy="2707105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27AD7E2B-A3E7-4B33-91AB-C423E3EC252E}"/>
              </a:ext>
            </a:extLst>
          </p:cNvPr>
          <p:cNvSpPr txBox="1"/>
          <p:nvPr/>
        </p:nvSpPr>
        <p:spPr>
          <a:xfrm>
            <a:off x="5336015" y="102863"/>
            <a:ext cx="1519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172.16.0.0/16</a:t>
            </a:r>
          </a:p>
        </p:txBody>
      </p:sp>
    </p:spTree>
    <p:extLst>
      <p:ext uri="{BB962C8B-B14F-4D97-AF65-F5344CB8AC3E}">
        <p14:creationId xmlns:p14="http://schemas.microsoft.com/office/powerpoint/2010/main" val="53041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AE7B3928-E666-4402-B643-D8038A651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9" y="537518"/>
            <a:ext cx="12062081" cy="1266568"/>
          </a:xfrm>
          <a:prstGeom prst="rect">
            <a:avLst/>
          </a:prstGeom>
        </p:spPr>
      </p:pic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9AF6E5FA-3716-4D38-B121-05D0188C3D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321897"/>
              </p:ext>
            </p:extLst>
          </p:nvPr>
        </p:nvGraphicFramePr>
        <p:xfrm>
          <a:off x="220362" y="4039127"/>
          <a:ext cx="5546124" cy="2440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7649">
                  <a:extLst>
                    <a:ext uri="{9D8B030D-6E8A-4147-A177-3AD203B41FA5}">
                      <a16:colId xmlns:a16="http://schemas.microsoft.com/office/drawing/2014/main" val="3769595626"/>
                    </a:ext>
                  </a:extLst>
                </a:gridCol>
                <a:gridCol w="790832">
                  <a:extLst>
                    <a:ext uri="{9D8B030D-6E8A-4147-A177-3AD203B41FA5}">
                      <a16:colId xmlns:a16="http://schemas.microsoft.com/office/drawing/2014/main" val="3170869541"/>
                    </a:ext>
                  </a:extLst>
                </a:gridCol>
                <a:gridCol w="3797643">
                  <a:extLst>
                    <a:ext uri="{9D8B030D-6E8A-4147-A177-3AD203B41FA5}">
                      <a16:colId xmlns:a16="http://schemas.microsoft.com/office/drawing/2014/main" val="2643765707"/>
                    </a:ext>
                  </a:extLst>
                </a:gridCol>
              </a:tblGrid>
              <a:tr h="439540"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</a:rPr>
                        <a:t>Rede</a:t>
                      </a:r>
                      <a:endParaRPr lang="pt-BR" sz="15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</a:rPr>
                        <a:t>Hosts</a:t>
                      </a:r>
                      <a:endParaRPr lang="pt-BR" sz="15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</a:rPr>
                        <a:t>Endereço de Rede / Máscara</a:t>
                      </a:r>
                      <a:endParaRPr lang="pt-BR" sz="15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643283"/>
                  </a:ext>
                </a:extLst>
              </a:tr>
              <a:tr h="400251"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</a:rPr>
                        <a:t>VLAN</a:t>
                      </a:r>
                      <a:r>
                        <a:rPr lang="pt-BR" sz="1500" b="1" baseline="0" dirty="0">
                          <a:solidFill>
                            <a:schemeClr val="tx1"/>
                          </a:solidFill>
                          <a:latin typeface="+mn-lt"/>
                        </a:rPr>
                        <a:t> A</a:t>
                      </a:r>
                      <a:endParaRPr lang="pt-BR" sz="15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  <a:cs typeface="Arial" pitchFamily="34" charset="0"/>
                        </a:rPr>
                        <a:t>1800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227974"/>
                  </a:ext>
                </a:extLst>
              </a:tr>
              <a:tr h="400251"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</a:rPr>
                        <a:t>VLAN B</a:t>
                      </a:r>
                      <a:endParaRPr lang="pt-BR" sz="15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  <a:cs typeface="Arial" pitchFamily="34" charset="0"/>
                        </a:rPr>
                        <a:t>450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380704"/>
                  </a:ext>
                </a:extLst>
              </a:tr>
              <a:tr h="400251"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</a:rPr>
                        <a:t>VLAN C</a:t>
                      </a:r>
                      <a:endParaRPr lang="pt-BR" sz="15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  <a:cs typeface="Arial" pitchFamily="34" charset="0"/>
                        </a:rPr>
                        <a:t>180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6175943"/>
                  </a:ext>
                </a:extLst>
              </a:tr>
              <a:tr h="400251"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</a:rPr>
                        <a:t>VLAN D</a:t>
                      </a:r>
                      <a:endParaRPr lang="pt-BR" sz="15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  <a:cs typeface="Arial" pitchFamily="34" charset="0"/>
                        </a:rPr>
                        <a:t>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5913101"/>
                  </a:ext>
                </a:extLst>
              </a:tr>
              <a:tr h="400251"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</a:rPr>
                        <a:t>VLAN E</a:t>
                      </a:r>
                      <a:endParaRPr lang="pt-BR" sz="15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  <a:cs typeface="Arial" pitchFamily="34" charset="0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2682433"/>
                  </a:ext>
                </a:extLst>
              </a:tr>
            </a:tbl>
          </a:graphicData>
        </a:graphic>
      </p:graphicFrame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43BD84F7-F155-4964-9C06-8E9E98CAB0A5}"/>
              </a:ext>
            </a:extLst>
          </p:cNvPr>
          <p:cNvCxnSpPr>
            <a:cxnSpLocks/>
          </p:cNvCxnSpPr>
          <p:nvPr/>
        </p:nvCxnSpPr>
        <p:spPr>
          <a:xfrm>
            <a:off x="10119879" y="3978546"/>
            <a:ext cx="0" cy="2707105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653F883C-597D-4AE5-804B-9F17B1248471}"/>
              </a:ext>
            </a:extLst>
          </p:cNvPr>
          <p:cNvCxnSpPr>
            <a:cxnSpLocks/>
          </p:cNvCxnSpPr>
          <p:nvPr/>
        </p:nvCxnSpPr>
        <p:spPr>
          <a:xfrm>
            <a:off x="9768257" y="3978548"/>
            <a:ext cx="0" cy="2707105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87D7E29E-0E6A-4435-BD18-948F62519401}"/>
              </a:ext>
            </a:extLst>
          </p:cNvPr>
          <p:cNvCxnSpPr>
            <a:cxnSpLocks/>
          </p:cNvCxnSpPr>
          <p:nvPr/>
        </p:nvCxnSpPr>
        <p:spPr>
          <a:xfrm>
            <a:off x="10798460" y="3978546"/>
            <a:ext cx="0" cy="2707105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3F7E1DD0-E02A-4CFA-8919-834A193CAEAF}"/>
              </a:ext>
            </a:extLst>
          </p:cNvPr>
          <p:cNvCxnSpPr>
            <a:cxnSpLocks/>
          </p:cNvCxnSpPr>
          <p:nvPr/>
        </p:nvCxnSpPr>
        <p:spPr>
          <a:xfrm>
            <a:off x="11424904" y="3905971"/>
            <a:ext cx="0" cy="2707105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311D938F-0CDE-44B6-9935-BD1AE747EAF8}"/>
              </a:ext>
            </a:extLst>
          </p:cNvPr>
          <p:cNvCxnSpPr>
            <a:cxnSpLocks/>
          </p:cNvCxnSpPr>
          <p:nvPr/>
        </p:nvCxnSpPr>
        <p:spPr>
          <a:xfrm>
            <a:off x="9057692" y="3905971"/>
            <a:ext cx="0" cy="2707105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27AD7E2B-A3E7-4B33-91AB-C423E3EC252E}"/>
              </a:ext>
            </a:extLst>
          </p:cNvPr>
          <p:cNvSpPr txBox="1"/>
          <p:nvPr/>
        </p:nvSpPr>
        <p:spPr>
          <a:xfrm>
            <a:off x="5336015" y="102863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192.168.0.0/16</a:t>
            </a:r>
          </a:p>
        </p:txBody>
      </p:sp>
    </p:spTree>
    <p:extLst>
      <p:ext uri="{BB962C8B-B14F-4D97-AF65-F5344CB8AC3E}">
        <p14:creationId xmlns:p14="http://schemas.microsoft.com/office/powerpoint/2010/main" val="2441753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AE7B3928-E666-4402-B643-D8038A651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9" y="537518"/>
            <a:ext cx="12062081" cy="1266568"/>
          </a:xfrm>
          <a:prstGeom prst="rect">
            <a:avLst/>
          </a:prstGeom>
        </p:spPr>
      </p:pic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9AF6E5FA-3716-4D38-B121-05D0188C3D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4515042"/>
              </p:ext>
            </p:extLst>
          </p:nvPr>
        </p:nvGraphicFramePr>
        <p:xfrm>
          <a:off x="220362" y="4039127"/>
          <a:ext cx="5546124" cy="2440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7649">
                  <a:extLst>
                    <a:ext uri="{9D8B030D-6E8A-4147-A177-3AD203B41FA5}">
                      <a16:colId xmlns:a16="http://schemas.microsoft.com/office/drawing/2014/main" val="3769595626"/>
                    </a:ext>
                  </a:extLst>
                </a:gridCol>
                <a:gridCol w="790832">
                  <a:extLst>
                    <a:ext uri="{9D8B030D-6E8A-4147-A177-3AD203B41FA5}">
                      <a16:colId xmlns:a16="http://schemas.microsoft.com/office/drawing/2014/main" val="3170869541"/>
                    </a:ext>
                  </a:extLst>
                </a:gridCol>
                <a:gridCol w="3797643">
                  <a:extLst>
                    <a:ext uri="{9D8B030D-6E8A-4147-A177-3AD203B41FA5}">
                      <a16:colId xmlns:a16="http://schemas.microsoft.com/office/drawing/2014/main" val="2643765707"/>
                    </a:ext>
                  </a:extLst>
                </a:gridCol>
              </a:tblGrid>
              <a:tr h="439540"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</a:rPr>
                        <a:t>Rede</a:t>
                      </a:r>
                      <a:endParaRPr lang="pt-BR" sz="15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</a:rPr>
                        <a:t>Hosts</a:t>
                      </a:r>
                      <a:endParaRPr lang="pt-BR" sz="15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</a:rPr>
                        <a:t>Endereço de Rede / Máscara</a:t>
                      </a:r>
                      <a:endParaRPr lang="pt-BR" sz="15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643283"/>
                  </a:ext>
                </a:extLst>
              </a:tr>
              <a:tr h="400251"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</a:rPr>
                        <a:t>VLAN</a:t>
                      </a:r>
                      <a:r>
                        <a:rPr lang="pt-BR" sz="1500" b="1" baseline="0" dirty="0">
                          <a:solidFill>
                            <a:schemeClr val="tx1"/>
                          </a:solidFill>
                          <a:latin typeface="+mn-lt"/>
                        </a:rPr>
                        <a:t> A</a:t>
                      </a:r>
                      <a:endParaRPr lang="pt-BR" sz="15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  <a:cs typeface="Arial" pitchFamily="34" charset="0"/>
                        </a:rPr>
                        <a:t>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227974"/>
                  </a:ext>
                </a:extLst>
              </a:tr>
              <a:tr h="400251"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</a:rPr>
                        <a:t>VLAN B</a:t>
                      </a:r>
                      <a:endParaRPr lang="pt-BR" sz="15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  <a:cs typeface="Arial" pitchFamily="34" charset="0"/>
                        </a:rPr>
                        <a:t>220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380704"/>
                  </a:ext>
                </a:extLst>
              </a:tr>
              <a:tr h="400251"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</a:rPr>
                        <a:t>VLAN C</a:t>
                      </a:r>
                      <a:endParaRPr lang="pt-BR" sz="15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  <a:cs typeface="Arial" pitchFamily="34" charset="0"/>
                        </a:rPr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6175943"/>
                  </a:ext>
                </a:extLst>
              </a:tr>
              <a:tr h="400251"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</a:rPr>
                        <a:t>VLAN D</a:t>
                      </a:r>
                      <a:endParaRPr lang="pt-BR" sz="15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  <a:cs typeface="Arial" pitchFamily="34" charset="0"/>
                        </a:rPr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5913101"/>
                  </a:ext>
                </a:extLst>
              </a:tr>
              <a:tr h="400251"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</a:rPr>
                        <a:t>VLAN E</a:t>
                      </a:r>
                      <a:endParaRPr lang="pt-BR" sz="15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dirty="0">
                          <a:solidFill>
                            <a:schemeClr val="tx1"/>
                          </a:solidFill>
                          <a:latin typeface="+mn-lt"/>
                          <a:cs typeface="Arial" pitchFamily="3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2682433"/>
                  </a:ext>
                </a:extLst>
              </a:tr>
            </a:tbl>
          </a:graphicData>
        </a:graphic>
      </p:graphicFrame>
      <p:sp>
        <p:nvSpPr>
          <p:cNvPr id="33" name="CaixaDeTexto 32">
            <a:extLst>
              <a:ext uri="{FF2B5EF4-FFF2-40B4-BE49-F238E27FC236}">
                <a16:creationId xmlns:a16="http://schemas.microsoft.com/office/drawing/2014/main" id="{27AD7E2B-A3E7-4B33-91AB-C423E3EC252E}"/>
              </a:ext>
            </a:extLst>
          </p:cNvPr>
          <p:cNvSpPr txBox="1"/>
          <p:nvPr/>
        </p:nvSpPr>
        <p:spPr>
          <a:xfrm>
            <a:off x="5336015" y="102863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192.168.0.0/16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58E95305-ECA8-4765-9071-4DEEEDF02C39}"/>
              </a:ext>
            </a:extLst>
          </p:cNvPr>
          <p:cNvCxnSpPr>
            <a:cxnSpLocks/>
          </p:cNvCxnSpPr>
          <p:nvPr/>
        </p:nvCxnSpPr>
        <p:spPr>
          <a:xfrm>
            <a:off x="9946885" y="3764362"/>
            <a:ext cx="0" cy="2707105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32462369-B48E-468F-93F4-918665DCBDB2}"/>
              </a:ext>
            </a:extLst>
          </p:cNvPr>
          <p:cNvCxnSpPr>
            <a:cxnSpLocks/>
          </p:cNvCxnSpPr>
          <p:nvPr/>
        </p:nvCxnSpPr>
        <p:spPr>
          <a:xfrm>
            <a:off x="9595263" y="3764364"/>
            <a:ext cx="0" cy="2707105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0A35406E-C913-43E9-82C3-90488F176B99}"/>
              </a:ext>
            </a:extLst>
          </p:cNvPr>
          <p:cNvCxnSpPr>
            <a:cxnSpLocks/>
          </p:cNvCxnSpPr>
          <p:nvPr/>
        </p:nvCxnSpPr>
        <p:spPr>
          <a:xfrm>
            <a:off x="10625466" y="3764362"/>
            <a:ext cx="0" cy="2707105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2CD05090-22BF-41A1-B187-34F70E888652}"/>
              </a:ext>
            </a:extLst>
          </p:cNvPr>
          <p:cNvCxnSpPr>
            <a:cxnSpLocks/>
          </p:cNvCxnSpPr>
          <p:nvPr/>
        </p:nvCxnSpPr>
        <p:spPr>
          <a:xfrm>
            <a:off x="11251910" y="3691787"/>
            <a:ext cx="0" cy="2707105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E0EEBCC5-9911-46B5-804E-779629082E20}"/>
              </a:ext>
            </a:extLst>
          </p:cNvPr>
          <p:cNvCxnSpPr>
            <a:cxnSpLocks/>
          </p:cNvCxnSpPr>
          <p:nvPr/>
        </p:nvCxnSpPr>
        <p:spPr>
          <a:xfrm>
            <a:off x="8884698" y="3691787"/>
            <a:ext cx="0" cy="2707105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0005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Imagem 1">
            <a:extLst>
              <a:ext uri="{FF2B5EF4-FFF2-40B4-BE49-F238E27FC236}">
                <a16:creationId xmlns:a16="http://schemas.microsoft.com/office/drawing/2014/main" id="{B8642F7E-C738-4395-BE83-CC743D857C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499" y="1575666"/>
            <a:ext cx="6608485" cy="5183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404B73F-F9F6-4285-9558-A21039063EFE}"/>
              </a:ext>
            </a:extLst>
          </p:cNvPr>
          <p:cNvSpPr txBox="1"/>
          <p:nvPr/>
        </p:nvSpPr>
        <p:spPr>
          <a:xfrm>
            <a:off x="736854" y="172995"/>
            <a:ext cx="109691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kern="50" dirty="0">
                <a:effectLst/>
                <a:latin typeface="Times New Roman" panose="02020603050405020304" pitchFamily="18" charset="0"/>
                <a:ea typeface="Lucida Sans Unicode" panose="020B0602030504020204" pitchFamily="34" charset="0"/>
              </a:rPr>
              <a:t>De acordo com as topologias abaixo, realize o cálculo de sub-rede a fim de endereçar as </a:t>
            </a:r>
            <a:r>
              <a:rPr lang="pt-BR" sz="1800" kern="50" dirty="0" err="1">
                <a:effectLst/>
                <a:latin typeface="Times New Roman" panose="02020603050405020304" pitchFamily="18" charset="0"/>
                <a:ea typeface="Lucida Sans Unicode" panose="020B0602030504020204" pitchFamily="34" charset="0"/>
              </a:rPr>
              <a:t>VLANs</a:t>
            </a:r>
            <a:r>
              <a:rPr lang="pt-BR" sz="1800" kern="50" dirty="0">
                <a:effectLst/>
                <a:latin typeface="Times New Roman" panose="02020603050405020304" pitchFamily="18" charset="0"/>
                <a:ea typeface="Lucida Sans Unicode" panose="020B0602030504020204" pitchFamily="34" charset="0"/>
              </a:rPr>
              <a:t> conforme o número de hosts. Defina o último endereço válido para Gateway de cada VLAN conforme sua sub-rede. Utilize  endereçamento base </a:t>
            </a:r>
            <a:r>
              <a:rPr lang="pt-BR" sz="1800" b="1" kern="50" dirty="0">
                <a:effectLst/>
                <a:latin typeface="Times New Roman" panose="02020603050405020304" pitchFamily="18" charset="0"/>
                <a:ea typeface="Lucida Sans Unicode" panose="020B0602030504020204" pitchFamily="34" charset="0"/>
              </a:rPr>
              <a:t>classe A </a:t>
            </a:r>
            <a:r>
              <a:rPr lang="pt-BR" sz="1800" kern="50" dirty="0">
                <a:effectLst/>
                <a:latin typeface="Times New Roman" panose="02020603050405020304" pitchFamily="18" charset="0"/>
                <a:ea typeface="Lucida Sans Unicode" panose="020B0602030504020204" pitchFamily="34" charset="0"/>
              </a:rPr>
              <a:t>privado e complete a tabela de acordo com o cálculo. Realize o cálculo de maneira otimizada sem desperdício de endereços e subredes.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88213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1CABAD53-2932-4EEB-B54A-987CB088C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58" y="702275"/>
            <a:ext cx="11610975" cy="1219200"/>
          </a:xfrm>
          <a:prstGeom prst="rect">
            <a:avLst/>
          </a:prstGeom>
        </p:spPr>
      </p:pic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895720D1-1424-4905-BFA7-3F38438EB0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5280886"/>
              </p:ext>
            </p:extLst>
          </p:nvPr>
        </p:nvGraphicFramePr>
        <p:xfrm>
          <a:off x="191658" y="4353120"/>
          <a:ext cx="8245367" cy="23453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42780">
                  <a:extLst>
                    <a:ext uri="{9D8B030D-6E8A-4147-A177-3AD203B41FA5}">
                      <a16:colId xmlns:a16="http://schemas.microsoft.com/office/drawing/2014/main" val="331276694"/>
                    </a:ext>
                  </a:extLst>
                </a:gridCol>
                <a:gridCol w="985617">
                  <a:extLst>
                    <a:ext uri="{9D8B030D-6E8A-4147-A177-3AD203B41FA5}">
                      <a16:colId xmlns:a16="http://schemas.microsoft.com/office/drawing/2014/main" val="615079182"/>
                    </a:ext>
                  </a:extLst>
                </a:gridCol>
                <a:gridCol w="799856">
                  <a:extLst>
                    <a:ext uri="{9D8B030D-6E8A-4147-A177-3AD203B41FA5}">
                      <a16:colId xmlns:a16="http://schemas.microsoft.com/office/drawing/2014/main" val="2953130039"/>
                    </a:ext>
                  </a:extLst>
                </a:gridCol>
                <a:gridCol w="1920690">
                  <a:extLst>
                    <a:ext uri="{9D8B030D-6E8A-4147-A177-3AD203B41FA5}">
                      <a16:colId xmlns:a16="http://schemas.microsoft.com/office/drawing/2014/main" val="3887674359"/>
                    </a:ext>
                  </a:extLst>
                </a:gridCol>
                <a:gridCol w="1731625">
                  <a:extLst>
                    <a:ext uri="{9D8B030D-6E8A-4147-A177-3AD203B41FA5}">
                      <a16:colId xmlns:a16="http://schemas.microsoft.com/office/drawing/2014/main" val="3779642889"/>
                    </a:ext>
                  </a:extLst>
                </a:gridCol>
                <a:gridCol w="1764799">
                  <a:extLst>
                    <a:ext uri="{9D8B030D-6E8A-4147-A177-3AD203B41FA5}">
                      <a16:colId xmlns:a16="http://schemas.microsoft.com/office/drawing/2014/main" val="3312153261"/>
                    </a:ext>
                  </a:extLst>
                </a:gridCol>
              </a:tblGrid>
              <a:tr h="361732">
                <a:tc gridSpan="6">
                  <a:txBody>
                    <a:bodyPr/>
                    <a:lstStyle/>
                    <a:p>
                      <a:pPr algn="ctr"/>
                      <a:r>
                        <a:rPr lang="pt-BR" sz="1500" b="1" kern="0" dirty="0">
                          <a:effectLst/>
                          <a:latin typeface="+mn-lt"/>
                        </a:rPr>
                        <a:t>RT_BORDER</a:t>
                      </a:r>
                      <a:endParaRPr lang="pt-BR" sz="1500" b="1" kern="50" dirty="0"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729895"/>
                  </a:ext>
                </a:extLst>
              </a:tr>
              <a:tr h="361732"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>
                          <a:effectLst/>
                          <a:latin typeface="+mn-lt"/>
                        </a:rPr>
                        <a:t>Interface</a:t>
                      </a:r>
                      <a:endParaRPr lang="pt-BR" sz="1500" b="1" kern="50"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 dirty="0">
                          <a:effectLst/>
                          <a:latin typeface="+mn-lt"/>
                        </a:rPr>
                        <a:t>Rede</a:t>
                      </a:r>
                      <a:endParaRPr lang="pt-BR" sz="1500" b="1" kern="50" dirty="0"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50" dirty="0">
                          <a:effectLst/>
                          <a:latin typeface="+mn-lt"/>
                          <a:ea typeface="Lucida Sans Unicode" panose="020B0602030504020204" pitchFamily="34" charset="0"/>
                        </a:rPr>
                        <a:t>Hosts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 dirty="0">
                          <a:effectLst/>
                          <a:latin typeface="+mn-lt"/>
                        </a:rPr>
                        <a:t>Endereço de Rede/Máscara</a:t>
                      </a:r>
                      <a:endParaRPr lang="pt-BR" sz="1500" b="1" kern="50" dirty="0"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 dirty="0">
                          <a:effectLst/>
                          <a:latin typeface="+mn-lt"/>
                        </a:rPr>
                        <a:t>Endereço IP do Gateway</a:t>
                      </a:r>
                      <a:endParaRPr lang="pt-BR" sz="1500" b="1" kern="50" dirty="0"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 dirty="0">
                          <a:effectLst/>
                          <a:latin typeface="+mn-lt"/>
                        </a:rPr>
                        <a:t>Máscara em decimal</a:t>
                      </a:r>
                      <a:endParaRPr lang="pt-BR" sz="1500" b="1" kern="50" dirty="0"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09386608"/>
                  </a:ext>
                </a:extLst>
              </a:tr>
              <a:tr h="361732"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 dirty="0">
                          <a:effectLst/>
                          <a:latin typeface="+mn-lt"/>
                        </a:rPr>
                        <a:t>g0/0.10</a:t>
                      </a:r>
                      <a:endParaRPr lang="pt-BR" sz="1500" b="1" kern="50" dirty="0"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>
                          <a:effectLst/>
                          <a:latin typeface="+mn-lt"/>
                        </a:rPr>
                        <a:t>VLAN 10</a:t>
                      </a:r>
                      <a:endParaRPr lang="pt-BR" sz="1500" b="1" kern="50"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50" dirty="0">
                          <a:effectLst/>
                          <a:latin typeface="+mn-lt"/>
                          <a:ea typeface="Lucida Sans Unicode" panose="020B0602030504020204" pitchFamily="34" charset="0"/>
                        </a:rPr>
                        <a:t>5500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800" b="1" kern="50" dirty="0">
                        <a:solidFill>
                          <a:srgbClr val="0070C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800" b="1" kern="50" dirty="0">
                        <a:solidFill>
                          <a:srgbClr val="0070C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800" b="1" kern="50" dirty="0">
                        <a:solidFill>
                          <a:srgbClr val="0070C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55694103"/>
                  </a:ext>
                </a:extLst>
              </a:tr>
              <a:tr h="388226"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>
                          <a:effectLst/>
                          <a:latin typeface="+mn-lt"/>
                        </a:rPr>
                        <a:t>g0/0.20</a:t>
                      </a:r>
                      <a:endParaRPr lang="pt-BR" sz="1500" b="1" kern="50"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>
                          <a:effectLst/>
                          <a:latin typeface="+mn-lt"/>
                        </a:rPr>
                        <a:t>VLAN 20</a:t>
                      </a:r>
                      <a:endParaRPr lang="pt-BR" sz="1500" b="1" kern="50"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50" dirty="0">
                          <a:effectLst/>
                          <a:latin typeface="+mn-lt"/>
                          <a:ea typeface="Lucida Sans Unicode" panose="020B0602030504020204" pitchFamily="34" charset="0"/>
                        </a:rPr>
                        <a:t>1100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800" b="1" kern="50" dirty="0">
                        <a:solidFill>
                          <a:srgbClr val="0070C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800" b="1" kern="50" dirty="0">
                        <a:solidFill>
                          <a:srgbClr val="0070C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800" b="1" kern="50" dirty="0">
                        <a:solidFill>
                          <a:srgbClr val="0070C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77334623"/>
                  </a:ext>
                </a:extLst>
              </a:tr>
              <a:tr h="388226"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>
                          <a:effectLst/>
                          <a:latin typeface="+mn-lt"/>
                        </a:rPr>
                        <a:t>g0/0.30</a:t>
                      </a:r>
                      <a:endParaRPr lang="pt-BR" sz="1500" b="1" kern="50"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>
                          <a:effectLst/>
                          <a:latin typeface="+mn-lt"/>
                        </a:rPr>
                        <a:t>VLAN 30</a:t>
                      </a:r>
                      <a:endParaRPr lang="pt-BR" sz="1500" b="1" kern="50"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50" dirty="0">
                          <a:effectLst/>
                          <a:latin typeface="+mn-lt"/>
                          <a:ea typeface="Lucida Sans Unicode" panose="020B0602030504020204" pitchFamily="34" charset="0"/>
                        </a:rPr>
                        <a:t>500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800" b="1" kern="50" dirty="0">
                        <a:solidFill>
                          <a:srgbClr val="0070C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800" b="1" kern="50" dirty="0">
                        <a:solidFill>
                          <a:srgbClr val="0070C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800" b="1" kern="50" dirty="0">
                        <a:solidFill>
                          <a:srgbClr val="0070C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25678235"/>
                  </a:ext>
                </a:extLst>
              </a:tr>
              <a:tr h="388226"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>
                          <a:effectLst/>
                          <a:latin typeface="+mn-lt"/>
                        </a:rPr>
                        <a:t>g0/0.40</a:t>
                      </a:r>
                      <a:endParaRPr lang="pt-BR" sz="1500" b="1" kern="50"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>
                          <a:effectLst/>
                          <a:latin typeface="+mn-lt"/>
                        </a:rPr>
                        <a:t>VLAN 40</a:t>
                      </a:r>
                      <a:endParaRPr lang="pt-BR" sz="1500" b="1" kern="50"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50" dirty="0">
                          <a:effectLst/>
                          <a:latin typeface="+mn-lt"/>
                          <a:ea typeface="Lucida Sans Unicode" panose="020B0602030504020204" pitchFamily="34" charset="0"/>
                        </a:rPr>
                        <a:t>100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800" b="1" kern="50" dirty="0">
                        <a:solidFill>
                          <a:srgbClr val="0070C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800" b="1" kern="50" dirty="0">
                        <a:solidFill>
                          <a:srgbClr val="0070C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800" b="1" kern="50" dirty="0">
                        <a:solidFill>
                          <a:srgbClr val="0070C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02938632"/>
                  </a:ext>
                </a:extLst>
              </a:tr>
            </a:tbl>
          </a:graphicData>
        </a:graphic>
      </p:graphicFrame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A7BE6418-6D13-4B4A-AF11-510BC8A8D79A}"/>
              </a:ext>
            </a:extLst>
          </p:cNvPr>
          <p:cNvCxnSpPr>
            <a:cxnSpLocks/>
          </p:cNvCxnSpPr>
          <p:nvPr/>
        </p:nvCxnSpPr>
        <p:spPr>
          <a:xfrm>
            <a:off x="10903308" y="3876950"/>
            <a:ext cx="0" cy="2707105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5B7F5195-9135-43C4-967D-D7BFD10CE1C2}"/>
              </a:ext>
            </a:extLst>
          </p:cNvPr>
          <p:cNvCxnSpPr>
            <a:cxnSpLocks/>
          </p:cNvCxnSpPr>
          <p:nvPr/>
        </p:nvCxnSpPr>
        <p:spPr>
          <a:xfrm>
            <a:off x="10535612" y="3876950"/>
            <a:ext cx="0" cy="2707105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D973C030-8001-4E4F-AF49-E96D9969EB45}"/>
              </a:ext>
            </a:extLst>
          </p:cNvPr>
          <p:cNvCxnSpPr>
            <a:cxnSpLocks/>
          </p:cNvCxnSpPr>
          <p:nvPr/>
        </p:nvCxnSpPr>
        <p:spPr>
          <a:xfrm>
            <a:off x="10246598" y="3876950"/>
            <a:ext cx="0" cy="2707105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08AE969A-0AFD-498D-AB58-6111CAA8158B}"/>
              </a:ext>
            </a:extLst>
          </p:cNvPr>
          <p:cNvCxnSpPr>
            <a:cxnSpLocks/>
          </p:cNvCxnSpPr>
          <p:nvPr/>
        </p:nvCxnSpPr>
        <p:spPr>
          <a:xfrm>
            <a:off x="11293099" y="3876950"/>
            <a:ext cx="0" cy="2707105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BBA72932-71D7-4655-B1E2-F7F79BDF5867}"/>
              </a:ext>
            </a:extLst>
          </p:cNvPr>
          <p:cNvSpPr txBox="1"/>
          <p:nvPr/>
        </p:nvSpPr>
        <p:spPr>
          <a:xfrm>
            <a:off x="5336015" y="102863"/>
            <a:ext cx="11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10.0.0.0/8</a:t>
            </a:r>
          </a:p>
        </p:txBody>
      </p:sp>
    </p:spTree>
    <p:extLst>
      <p:ext uri="{BB962C8B-B14F-4D97-AF65-F5344CB8AC3E}">
        <p14:creationId xmlns:p14="http://schemas.microsoft.com/office/powerpoint/2010/main" val="2227112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m 1">
            <a:extLst>
              <a:ext uri="{FF2B5EF4-FFF2-40B4-BE49-F238E27FC236}">
                <a16:creationId xmlns:a16="http://schemas.microsoft.com/office/drawing/2014/main" id="{F430BECB-3B83-4A10-A4C4-3C7D77307D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273" y="400180"/>
            <a:ext cx="7053478" cy="5847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1393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1CABAD53-2932-4EEB-B54A-987CB088C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584"/>
            <a:ext cx="11948331" cy="1254624"/>
          </a:xfrm>
          <a:prstGeom prst="rect">
            <a:avLst/>
          </a:prstGeom>
        </p:spPr>
      </p:pic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895720D1-1424-4905-BFA7-3F38438EB0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338037"/>
              </p:ext>
            </p:extLst>
          </p:nvPr>
        </p:nvGraphicFramePr>
        <p:xfrm>
          <a:off x="191658" y="4353120"/>
          <a:ext cx="8063077" cy="23453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19726">
                  <a:extLst>
                    <a:ext uri="{9D8B030D-6E8A-4147-A177-3AD203B41FA5}">
                      <a16:colId xmlns:a16="http://schemas.microsoft.com/office/drawing/2014/main" val="331276694"/>
                    </a:ext>
                  </a:extLst>
                </a:gridCol>
                <a:gridCol w="963827">
                  <a:extLst>
                    <a:ext uri="{9D8B030D-6E8A-4147-A177-3AD203B41FA5}">
                      <a16:colId xmlns:a16="http://schemas.microsoft.com/office/drawing/2014/main" val="615079182"/>
                    </a:ext>
                  </a:extLst>
                </a:gridCol>
                <a:gridCol w="782173">
                  <a:extLst>
                    <a:ext uri="{9D8B030D-6E8A-4147-A177-3AD203B41FA5}">
                      <a16:colId xmlns:a16="http://schemas.microsoft.com/office/drawing/2014/main" val="2953130039"/>
                    </a:ext>
                  </a:extLst>
                </a:gridCol>
                <a:gridCol w="1878227">
                  <a:extLst>
                    <a:ext uri="{9D8B030D-6E8A-4147-A177-3AD203B41FA5}">
                      <a16:colId xmlns:a16="http://schemas.microsoft.com/office/drawing/2014/main" val="3887674359"/>
                    </a:ext>
                  </a:extLst>
                </a:gridCol>
                <a:gridCol w="1693342">
                  <a:extLst>
                    <a:ext uri="{9D8B030D-6E8A-4147-A177-3AD203B41FA5}">
                      <a16:colId xmlns:a16="http://schemas.microsoft.com/office/drawing/2014/main" val="3779642889"/>
                    </a:ext>
                  </a:extLst>
                </a:gridCol>
                <a:gridCol w="1725782">
                  <a:extLst>
                    <a:ext uri="{9D8B030D-6E8A-4147-A177-3AD203B41FA5}">
                      <a16:colId xmlns:a16="http://schemas.microsoft.com/office/drawing/2014/main" val="3312153261"/>
                    </a:ext>
                  </a:extLst>
                </a:gridCol>
              </a:tblGrid>
              <a:tr h="361732">
                <a:tc gridSpan="6">
                  <a:txBody>
                    <a:bodyPr/>
                    <a:lstStyle/>
                    <a:p>
                      <a:pPr algn="ctr"/>
                      <a:r>
                        <a:rPr lang="pt-BR" sz="1500" b="1" kern="0" dirty="0">
                          <a:effectLst/>
                          <a:latin typeface="+mn-lt"/>
                        </a:rPr>
                        <a:t>RT_BORDER</a:t>
                      </a:r>
                      <a:endParaRPr lang="pt-BR" sz="1500" b="1" kern="50" dirty="0"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729895"/>
                  </a:ext>
                </a:extLst>
              </a:tr>
              <a:tr h="361732"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>
                          <a:effectLst/>
                          <a:latin typeface="+mn-lt"/>
                        </a:rPr>
                        <a:t>Interface</a:t>
                      </a:r>
                      <a:endParaRPr lang="pt-BR" sz="1500" b="1" kern="50"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 dirty="0">
                          <a:effectLst/>
                          <a:latin typeface="+mn-lt"/>
                        </a:rPr>
                        <a:t>Rede</a:t>
                      </a:r>
                      <a:endParaRPr lang="pt-BR" sz="1500" b="1" kern="50" dirty="0"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50" dirty="0">
                          <a:effectLst/>
                          <a:latin typeface="+mn-lt"/>
                          <a:ea typeface="Lucida Sans Unicode" panose="020B0602030504020204" pitchFamily="34" charset="0"/>
                        </a:rPr>
                        <a:t>Hosts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 dirty="0">
                          <a:effectLst/>
                          <a:latin typeface="+mn-lt"/>
                        </a:rPr>
                        <a:t>Endereço de Rede/Máscara</a:t>
                      </a:r>
                      <a:endParaRPr lang="pt-BR" sz="1500" b="1" kern="50" dirty="0"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 dirty="0">
                          <a:effectLst/>
                          <a:latin typeface="+mn-lt"/>
                        </a:rPr>
                        <a:t>Endereço IP do Gateway</a:t>
                      </a:r>
                      <a:endParaRPr lang="pt-BR" sz="1500" b="1" kern="50" dirty="0"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>
                          <a:effectLst/>
                          <a:latin typeface="+mn-lt"/>
                        </a:rPr>
                        <a:t>Máscara em decimal</a:t>
                      </a:r>
                      <a:endParaRPr lang="pt-BR" sz="1500" b="1" kern="50"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09386608"/>
                  </a:ext>
                </a:extLst>
              </a:tr>
              <a:tr h="361732"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>
                          <a:effectLst/>
                          <a:latin typeface="+mn-lt"/>
                        </a:rPr>
                        <a:t>g0/0.10</a:t>
                      </a:r>
                      <a:endParaRPr lang="pt-BR" sz="1500" b="1" kern="50"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>
                          <a:effectLst/>
                          <a:latin typeface="+mn-lt"/>
                        </a:rPr>
                        <a:t>VLAN 10</a:t>
                      </a:r>
                      <a:endParaRPr lang="pt-BR" sz="1500" b="1" kern="50"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50" dirty="0">
                          <a:effectLst/>
                          <a:latin typeface="+mn-lt"/>
                          <a:ea typeface="Lucida Sans Unicode" panose="020B0602030504020204" pitchFamily="34" charset="0"/>
                        </a:rPr>
                        <a:t>300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500" b="1" kern="50" dirty="0">
                        <a:solidFill>
                          <a:srgbClr val="0070C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BR" sz="1500" b="1" kern="50" dirty="0">
                        <a:solidFill>
                          <a:srgbClr val="0070C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BR" sz="1500" b="1" kern="50" dirty="0">
                        <a:solidFill>
                          <a:srgbClr val="0070C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55694103"/>
                  </a:ext>
                </a:extLst>
              </a:tr>
              <a:tr h="388226"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>
                          <a:effectLst/>
                          <a:latin typeface="+mn-lt"/>
                        </a:rPr>
                        <a:t>g0/0.20</a:t>
                      </a:r>
                      <a:endParaRPr lang="pt-BR" sz="1500" b="1" kern="50"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>
                          <a:effectLst/>
                          <a:latin typeface="+mn-lt"/>
                        </a:rPr>
                        <a:t>VLAN 20</a:t>
                      </a:r>
                      <a:endParaRPr lang="pt-BR" sz="1500" b="1" kern="50"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50" dirty="0">
                          <a:effectLst/>
                          <a:latin typeface="+mn-lt"/>
                          <a:ea typeface="Lucida Sans Unicode" panose="020B0602030504020204" pitchFamily="34" charset="0"/>
                        </a:rPr>
                        <a:t>200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BR" sz="1500" b="1" kern="50" dirty="0">
                        <a:solidFill>
                          <a:srgbClr val="0070C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BR" sz="1500" b="1" kern="50" dirty="0">
                        <a:solidFill>
                          <a:srgbClr val="0070C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BR" sz="1500" b="1" kern="50">
                        <a:solidFill>
                          <a:srgbClr val="0070C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77334623"/>
                  </a:ext>
                </a:extLst>
              </a:tr>
              <a:tr h="388226"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>
                          <a:effectLst/>
                          <a:latin typeface="+mn-lt"/>
                        </a:rPr>
                        <a:t>g0/0.30</a:t>
                      </a:r>
                      <a:endParaRPr lang="pt-BR" sz="1500" b="1" kern="50"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>
                          <a:effectLst/>
                          <a:latin typeface="+mn-lt"/>
                        </a:rPr>
                        <a:t>VLAN 30</a:t>
                      </a:r>
                      <a:endParaRPr lang="pt-BR" sz="1500" b="1" kern="50"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50" dirty="0">
                          <a:effectLst/>
                          <a:latin typeface="+mn-lt"/>
                          <a:ea typeface="Lucida Sans Unicode" panose="020B0602030504020204" pitchFamily="34" charset="0"/>
                        </a:rPr>
                        <a:t>50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BR" sz="1500" b="1" kern="50">
                        <a:solidFill>
                          <a:srgbClr val="0070C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BR" sz="1500" b="1" kern="50" dirty="0">
                        <a:solidFill>
                          <a:srgbClr val="0070C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BR" sz="1500" b="1" kern="50" dirty="0">
                        <a:solidFill>
                          <a:srgbClr val="0070C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25678235"/>
                  </a:ext>
                </a:extLst>
              </a:tr>
              <a:tr h="388226"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>
                          <a:effectLst/>
                          <a:latin typeface="+mn-lt"/>
                        </a:rPr>
                        <a:t>g0/0.40</a:t>
                      </a:r>
                      <a:endParaRPr lang="pt-BR" sz="1500" b="1" kern="50"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>
                          <a:effectLst/>
                          <a:latin typeface="+mn-lt"/>
                        </a:rPr>
                        <a:t>VLAN 40</a:t>
                      </a:r>
                      <a:endParaRPr lang="pt-BR" sz="1500" b="1" kern="50"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50" dirty="0">
                          <a:effectLst/>
                          <a:latin typeface="+mn-lt"/>
                          <a:ea typeface="Lucida Sans Unicode" panose="020B0602030504020204" pitchFamily="34" charset="0"/>
                        </a:rPr>
                        <a:t>20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BR" sz="1500" b="1" kern="50">
                        <a:solidFill>
                          <a:srgbClr val="0070C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BR" sz="1500" b="1" kern="50" dirty="0">
                        <a:solidFill>
                          <a:srgbClr val="0070C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BR" sz="1500" b="1" kern="50" dirty="0">
                        <a:solidFill>
                          <a:srgbClr val="0070C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02938632"/>
                  </a:ext>
                </a:extLst>
              </a:tr>
            </a:tbl>
          </a:graphicData>
        </a:graphic>
      </p:graphicFrame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A7BE6418-6D13-4B4A-AF11-510BC8A8D79A}"/>
              </a:ext>
            </a:extLst>
          </p:cNvPr>
          <p:cNvCxnSpPr>
            <a:cxnSpLocks/>
          </p:cNvCxnSpPr>
          <p:nvPr/>
        </p:nvCxnSpPr>
        <p:spPr>
          <a:xfrm>
            <a:off x="11463059" y="3816703"/>
            <a:ext cx="0" cy="2707105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5B7F5195-9135-43C4-967D-D7BFD10CE1C2}"/>
              </a:ext>
            </a:extLst>
          </p:cNvPr>
          <p:cNvCxnSpPr>
            <a:cxnSpLocks/>
          </p:cNvCxnSpPr>
          <p:nvPr/>
        </p:nvCxnSpPr>
        <p:spPr>
          <a:xfrm>
            <a:off x="11202877" y="3816703"/>
            <a:ext cx="0" cy="2707105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D973C030-8001-4E4F-AF49-E96D9969EB45}"/>
              </a:ext>
            </a:extLst>
          </p:cNvPr>
          <p:cNvCxnSpPr>
            <a:cxnSpLocks/>
          </p:cNvCxnSpPr>
          <p:nvPr/>
        </p:nvCxnSpPr>
        <p:spPr>
          <a:xfrm>
            <a:off x="11699680" y="3816704"/>
            <a:ext cx="0" cy="2707105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08AE969A-0AFD-498D-AB58-6111CAA8158B}"/>
              </a:ext>
            </a:extLst>
          </p:cNvPr>
          <p:cNvCxnSpPr>
            <a:cxnSpLocks/>
          </p:cNvCxnSpPr>
          <p:nvPr/>
        </p:nvCxnSpPr>
        <p:spPr>
          <a:xfrm>
            <a:off x="11960364" y="3816705"/>
            <a:ext cx="0" cy="2707105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5341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m 1">
            <a:extLst>
              <a:ext uri="{FF2B5EF4-FFF2-40B4-BE49-F238E27FC236}">
                <a16:creationId xmlns:a16="http://schemas.microsoft.com/office/drawing/2014/main" id="{B4F36BEF-6F15-4D3E-B07C-BC4B7DBB78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3754" y="747756"/>
            <a:ext cx="7104491" cy="5620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3881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1CABAD53-2932-4EEB-B54A-987CB088C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1" y="705472"/>
            <a:ext cx="11905183" cy="1250093"/>
          </a:xfrm>
          <a:prstGeom prst="rect">
            <a:avLst/>
          </a:prstGeom>
        </p:spPr>
      </p:pic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895720D1-1424-4905-BFA7-3F38438EB0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1022535"/>
              </p:ext>
            </p:extLst>
          </p:nvPr>
        </p:nvGraphicFramePr>
        <p:xfrm>
          <a:off x="191658" y="4353120"/>
          <a:ext cx="8425120" cy="23453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65513">
                  <a:extLst>
                    <a:ext uri="{9D8B030D-6E8A-4147-A177-3AD203B41FA5}">
                      <a16:colId xmlns:a16="http://schemas.microsoft.com/office/drawing/2014/main" val="331276694"/>
                    </a:ext>
                  </a:extLst>
                </a:gridCol>
                <a:gridCol w="1007104">
                  <a:extLst>
                    <a:ext uri="{9D8B030D-6E8A-4147-A177-3AD203B41FA5}">
                      <a16:colId xmlns:a16="http://schemas.microsoft.com/office/drawing/2014/main" val="615079182"/>
                    </a:ext>
                  </a:extLst>
                </a:gridCol>
                <a:gridCol w="817294">
                  <a:extLst>
                    <a:ext uri="{9D8B030D-6E8A-4147-A177-3AD203B41FA5}">
                      <a16:colId xmlns:a16="http://schemas.microsoft.com/office/drawing/2014/main" val="2953130039"/>
                    </a:ext>
                  </a:extLst>
                </a:gridCol>
                <a:gridCol w="1962562">
                  <a:extLst>
                    <a:ext uri="{9D8B030D-6E8A-4147-A177-3AD203B41FA5}">
                      <a16:colId xmlns:a16="http://schemas.microsoft.com/office/drawing/2014/main" val="3887674359"/>
                    </a:ext>
                  </a:extLst>
                </a:gridCol>
                <a:gridCol w="1769375">
                  <a:extLst>
                    <a:ext uri="{9D8B030D-6E8A-4147-A177-3AD203B41FA5}">
                      <a16:colId xmlns:a16="http://schemas.microsoft.com/office/drawing/2014/main" val="3779642889"/>
                    </a:ext>
                  </a:extLst>
                </a:gridCol>
                <a:gridCol w="1803272">
                  <a:extLst>
                    <a:ext uri="{9D8B030D-6E8A-4147-A177-3AD203B41FA5}">
                      <a16:colId xmlns:a16="http://schemas.microsoft.com/office/drawing/2014/main" val="3312153261"/>
                    </a:ext>
                  </a:extLst>
                </a:gridCol>
              </a:tblGrid>
              <a:tr h="361732">
                <a:tc gridSpan="6">
                  <a:txBody>
                    <a:bodyPr/>
                    <a:lstStyle/>
                    <a:p>
                      <a:pPr algn="ctr"/>
                      <a:r>
                        <a:rPr lang="pt-BR" sz="1500" b="1" kern="0" dirty="0">
                          <a:effectLst/>
                          <a:latin typeface="+mn-lt"/>
                        </a:rPr>
                        <a:t>RT_BORDER</a:t>
                      </a:r>
                      <a:endParaRPr lang="pt-BR" sz="1500" b="1" kern="50" dirty="0"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729895"/>
                  </a:ext>
                </a:extLst>
              </a:tr>
              <a:tr h="361732"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>
                          <a:effectLst/>
                          <a:latin typeface="+mn-lt"/>
                        </a:rPr>
                        <a:t>Interface</a:t>
                      </a:r>
                      <a:endParaRPr lang="pt-BR" sz="1500" b="1" kern="50"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 dirty="0">
                          <a:effectLst/>
                          <a:latin typeface="+mn-lt"/>
                        </a:rPr>
                        <a:t>Rede</a:t>
                      </a:r>
                      <a:endParaRPr lang="pt-BR" sz="1500" b="1" kern="50" dirty="0"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50" dirty="0">
                          <a:effectLst/>
                          <a:latin typeface="+mn-lt"/>
                          <a:ea typeface="Lucida Sans Unicode" panose="020B0602030504020204" pitchFamily="34" charset="0"/>
                        </a:rPr>
                        <a:t>Hosts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 dirty="0">
                          <a:effectLst/>
                          <a:latin typeface="+mn-lt"/>
                        </a:rPr>
                        <a:t>Endereço de Rede/Máscara</a:t>
                      </a:r>
                      <a:endParaRPr lang="pt-BR" sz="1500" b="1" kern="50" dirty="0"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 dirty="0">
                          <a:effectLst/>
                          <a:latin typeface="+mn-lt"/>
                        </a:rPr>
                        <a:t>Endereço IP do Gateway</a:t>
                      </a:r>
                      <a:endParaRPr lang="pt-BR" sz="1500" b="1" kern="50" dirty="0"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>
                          <a:effectLst/>
                          <a:latin typeface="+mn-lt"/>
                        </a:rPr>
                        <a:t>Máscara em decimal</a:t>
                      </a:r>
                      <a:endParaRPr lang="pt-BR" sz="1500" b="1" kern="50"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09386608"/>
                  </a:ext>
                </a:extLst>
              </a:tr>
              <a:tr h="361732"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>
                          <a:effectLst/>
                          <a:latin typeface="+mn-lt"/>
                        </a:rPr>
                        <a:t>g0/0.10</a:t>
                      </a:r>
                      <a:endParaRPr lang="pt-BR" sz="1500" b="1" kern="50"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>
                          <a:effectLst/>
                          <a:latin typeface="+mn-lt"/>
                        </a:rPr>
                        <a:t>VLAN 10</a:t>
                      </a:r>
                      <a:endParaRPr lang="pt-BR" sz="1500" b="1" kern="50"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50" dirty="0">
                          <a:effectLst/>
                          <a:latin typeface="+mn-lt"/>
                          <a:ea typeface="Lucida Sans Unicode" panose="020B0602030504020204" pitchFamily="34" charset="0"/>
                        </a:rPr>
                        <a:t>8100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800" b="1" kern="50" dirty="0">
                        <a:solidFill>
                          <a:srgbClr val="0070C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800" b="1" kern="50" dirty="0">
                        <a:solidFill>
                          <a:srgbClr val="0070C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800" b="1" kern="50" dirty="0">
                        <a:solidFill>
                          <a:srgbClr val="0070C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55694103"/>
                  </a:ext>
                </a:extLst>
              </a:tr>
              <a:tr h="388226"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>
                          <a:effectLst/>
                          <a:latin typeface="+mn-lt"/>
                        </a:rPr>
                        <a:t>g0/0.20</a:t>
                      </a:r>
                      <a:endParaRPr lang="pt-BR" sz="1500" b="1" kern="50"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>
                          <a:effectLst/>
                          <a:latin typeface="+mn-lt"/>
                        </a:rPr>
                        <a:t>VLAN 20</a:t>
                      </a:r>
                      <a:endParaRPr lang="pt-BR" sz="1500" b="1" kern="50"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50" dirty="0">
                          <a:effectLst/>
                          <a:latin typeface="+mn-lt"/>
                          <a:ea typeface="Lucida Sans Unicode" panose="020B0602030504020204" pitchFamily="34" charset="0"/>
                        </a:rPr>
                        <a:t>4050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800" b="1" kern="50" dirty="0">
                        <a:solidFill>
                          <a:srgbClr val="0070C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800" b="1" kern="50" dirty="0">
                        <a:solidFill>
                          <a:srgbClr val="0070C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800" b="1" kern="50" dirty="0">
                        <a:solidFill>
                          <a:srgbClr val="0070C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77334623"/>
                  </a:ext>
                </a:extLst>
              </a:tr>
              <a:tr h="388226"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>
                          <a:effectLst/>
                          <a:latin typeface="+mn-lt"/>
                        </a:rPr>
                        <a:t>g0/0.30</a:t>
                      </a:r>
                      <a:endParaRPr lang="pt-BR" sz="1500" b="1" kern="50"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>
                          <a:effectLst/>
                          <a:latin typeface="+mn-lt"/>
                        </a:rPr>
                        <a:t>VLAN 30</a:t>
                      </a:r>
                      <a:endParaRPr lang="pt-BR" sz="1500" b="1" kern="50"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50" dirty="0">
                          <a:effectLst/>
                          <a:latin typeface="+mn-lt"/>
                          <a:ea typeface="Lucida Sans Unicode" panose="020B0602030504020204" pitchFamily="34" charset="0"/>
                        </a:rPr>
                        <a:t>220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800" b="1" kern="50" dirty="0">
                        <a:solidFill>
                          <a:srgbClr val="0070C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800" b="1" kern="50" dirty="0">
                        <a:solidFill>
                          <a:srgbClr val="0070C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800" b="1" kern="50" dirty="0">
                        <a:solidFill>
                          <a:srgbClr val="0070C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25678235"/>
                  </a:ext>
                </a:extLst>
              </a:tr>
              <a:tr h="388226"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>
                          <a:effectLst/>
                          <a:latin typeface="+mn-lt"/>
                        </a:rPr>
                        <a:t>g0/0.40</a:t>
                      </a:r>
                      <a:endParaRPr lang="pt-BR" sz="1500" b="1" kern="50"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0">
                          <a:effectLst/>
                          <a:latin typeface="+mn-lt"/>
                        </a:rPr>
                        <a:t>VLAN 40</a:t>
                      </a:r>
                      <a:endParaRPr lang="pt-BR" sz="1500" b="1" kern="50"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 kern="50" dirty="0">
                          <a:effectLst/>
                          <a:latin typeface="+mn-lt"/>
                          <a:ea typeface="Lucida Sans Unicode" panose="020B0602030504020204" pitchFamily="34" charset="0"/>
                        </a:rPr>
                        <a:t>60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800" b="1" kern="0" dirty="0"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800" b="1" kern="50" dirty="0">
                        <a:solidFill>
                          <a:srgbClr val="0070C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800" b="1" kern="50" dirty="0">
                        <a:solidFill>
                          <a:srgbClr val="0070C0"/>
                        </a:solidFill>
                        <a:effectLst/>
                        <a:latin typeface="+mn-lt"/>
                        <a:ea typeface="Lucida Sans Unicode" panose="020B0602030504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02938632"/>
                  </a:ext>
                </a:extLst>
              </a:tr>
            </a:tbl>
          </a:graphicData>
        </a:graphic>
      </p:graphicFrame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A7BE6418-6D13-4B4A-AF11-510BC8A8D79A}"/>
              </a:ext>
            </a:extLst>
          </p:cNvPr>
          <p:cNvCxnSpPr>
            <a:cxnSpLocks/>
          </p:cNvCxnSpPr>
          <p:nvPr/>
        </p:nvCxnSpPr>
        <p:spPr>
          <a:xfrm>
            <a:off x="10762843" y="3819609"/>
            <a:ext cx="0" cy="2707105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5B7F5195-9135-43C4-967D-D7BFD10CE1C2}"/>
              </a:ext>
            </a:extLst>
          </p:cNvPr>
          <p:cNvCxnSpPr>
            <a:cxnSpLocks/>
          </p:cNvCxnSpPr>
          <p:nvPr/>
        </p:nvCxnSpPr>
        <p:spPr>
          <a:xfrm>
            <a:off x="11021645" y="3819609"/>
            <a:ext cx="0" cy="2707105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D973C030-8001-4E4F-AF49-E96D9969EB45}"/>
              </a:ext>
            </a:extLst>
          </p:cNvPr>
          <p:cNvCxnSpPr>
            <a:cxnSpLocks/>
          </p:cNvCxnSpPr>
          <p:nvPr/>
        </p:nvCxnSpPr>
        <p:spPr>
          <a:xfrm>
            <a:off x="10282239" y="3819609"/>
            <a:ext cx="0" cy="2707105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08AE969A-0AFD-498D-AB58-6111CAA8158B}"/>
              </a:ext>
            </a:extLst>
          </p:cNvPr>
          <p:cNvCxnSpPr>
            <a:cxnSpLocks/>
          </p:cNvCxnSpPr>
          <p:nvPr/>
        </p:nvCxnSpPr>
        <p:spPr>
          <a:xfrm>
            <a:off x="10510504" y="3819609"/>
            <a:ext cx="0" cy="2707105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4103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6CF92D-53B4-40BA-B53C-6CA0C65CD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7267832" cy="1325563"/>
          </a:xfrm>
        </p:spPr>
        <p:txBody>
          <a:bodyPr>
            <a:normAutofit/>
          </a:bodyPr>
          <a:lstStyle/>
          <a:p>
            <a:pPr marL="342900" lvl="0" indent="-342900"/>
            <a:br>
              <a:rPr lang="pt-BR" sz="1800" kern="50" dirty="0">
                <a:effectLst/>
                <a:latin typeface="Times New Roman" panose="02020603050405020304" pitchFamily="18" charset="0"/>
                <a:ea typeface="Lucida Sans Unicode" panose="020B0602030504020204" pitchFamily="34" charset="0"/>
              </a:rPr>
            </a:br>
            <a:r>
              <a:rPr lang="pt-BR" sz="1800" kern="50" dirty="0">
                <a:effectLst/>
                <a:latin typeface="Times New Roman" panose="02020603050405020304" pitchFamily="18" charset="0"/>
                <a:ea typeface="Lucida Sans Unicode" panose="020B0602030504020204" pitchFamily="34" charset="0"/>
              </a:rPr>
              <a:t> </a:t>
            </a:r>
            <a:br>
              <a:rPr lang="pt-BR" sz="1800" kern="50" dirty="0">
                <a:effectLst/>
                <a:latin typeface="Times New Roman" panose="02020603050405020304" pitchFamily="18" charset="0"/>
                <a:ea typeface="Lucida Sans Unicode" panose="020B0602030504020204" pitchFamily="34" charset="0"/>
              </a:rPr>
            </a:b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8BCC7FA-D6D4-4CAA-91D4-576AD4EC0FA3}"/>
              </a:ext>
            </a:extLst>
          </p:cNvPr>
          <p:cNvSpPr txBox="1"/>
          <p:nvPr/>
        </p:nvSpPr>
        <p:spPr>
          <a:xfrm>
            <a:off x="1534582" y="91424"/>
            <a:ext cx="97594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1800" kern="50" dirty="0">
                <a:effectLst/>
                <a:latin typeface="Times New Roman" panose="02020603050405020304" pitchFamily="18" charset="0"/>
                <a:ea typeface="Lucida Sans Unicode" panose="020B0602030504020204" pitchFamily="34" charset="0"/>
              </a:rPr>
              <a:t>Analise as topologias abaixo e verifique se os hosts possuiriam conectividade caso fosse realizada esta configuração. Feito isso escreva sua conclusão abaixo. </a:t>
            </a:r>
          </a:p>
        </p:txBody>
      </p:sp>
      <p:pic>
        <p:nvPicPr>
          <p:cNvPr id="5122" name="Imagem 1">
            <a:extLst>
              <a:ext uri="{FF2B5EF4-FFF2-40B4-BE49-F238E27FC236}">
                <a16:creationId xmlns:a16="http://schemas.microsoft.com/office/drawing/2014/main" id="{552DDD4A-AA3C-4E78-AC53-6F51250110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930" y="957869"/>
            <a:ext cx="7186097" cy="5479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inal de Multiplicação 5">
            <a:extLst>
              <a:ext uri="{FF2B5EF4-FFF2-40B4-BE49-F238E27FC236}">
                <a16:creationId xmlns:a16="http://schemas.microsoft.com/office/drawing/2014/main" id="{0771F8C1-A9D1-43A1-B7ED-0E2E192FD886}"/>
              </a:ext>
            </a:extLst>
          </p:cNvPr>
          <p:cNvSpPr/>
          <p:nvPr/>
        </p:nvSpPr>
        <p:spPr>
          <a:xfrm>
            <a:off x="11069877" y="1330372"/>
            <a:ext cx="535459" cy="487964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Seta: Divisa 6">
            <a:extLst>
              <a:ext uri="{FF2B5EF4-FFF2-40B4-BE49-F238E27FC236}">
                <a16:creationId xmlns:a16="http://schemas.microsoft.com/office/drawing/2014/main" id="{0D656379-30B3-45DA-A1CA-7AB28CCBBA8E}"/>
              </a:ext>
            </a:extLst>
          </p:cNvPr>
          <p:cNvSpPr/>
          <p:nvPr/>
        </p:nvSpPr>
        <p:spPr>
          <a:xfrm rot="5400000">
            <a:off x="11107824" y="730064"/>
            <a:ext cx="372503" cy="387885"/>
          </a:xfrm>
          <a:prstGeom prst="chevron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14A7771-761A-4B22-80AD-FA13B3D8625E}"/>
              </a:ext>
            </a:extLst>
          </p:cNvPr>
          <p:cNvSpPr txBox="1"/>
          <p:nvPr/>
        </p:nvSpPr>
        <p:spPr>
          <a:xfrm>
            <a:off x="233708" y="773203"/>
            <a:ext cx="1208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Conclusão:</a:t>
            </a:r>
          </a:p>
        </p:txBody>
      </p:sp>
    </p:spTree>
    <p:extLst>
      <p:ext uri="{BB962C8B-B14F-4D97-AF65-F5344CB8AC3E}">
        <p14:creationId xmlns:p14="http://schemas.microsoft.com/office/powerpoint/2010/main" val="510847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m 1">
            <a:extLst>
              <a:ext uri="{FF2B5EF4-FFF2-40B4-BE49-F238E27FC236}">
                <a16:creationId xmlns:a16="http://schemas.microsoft.com/office/drawing/2014/main" id="{A0B6DB5B-DB11-43DC-B4F5-01192AC08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3681" y="400178"/>
            <a:ext cx="7828659" cy="5942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inal de Multiplicação 3">
            <a:extLst>
              <a:ext uri="{FF2B5EF4-FFF2-40B4-BE49-F238E27FC236}">
                <a16:creationId xmlns:a16="http://schemas.microsoft.com/office/drawing/2014/main" id="{29B4A1F0-E244-4BD2-AE83-2ACDBFC0F574}"/>
              </a:ext>
            </a:extLst>
          </p:cNvPr>
          <p:cNvSpPr/>
          <p:nvPr/>
        </p:nvSpPr>
        <p:spPr>
          <a:xfrm>
            <a:off x="11232869" y="967069"/>
            <a:ext cx="535459" cy="487964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Divisa 5">
            <a:extLst>
              <a:ext uri="{FF2B5EF4-FFF2-40B4-BE49-F238E27FC236}">
                <a16:creationId xmlns:a16="http://schemas.microsoft.com/office/drawing/2014/main" id="{757FB50E-D2D3-42FF-9986-25C77424C3A0}"/>
              </a:ext>
            </a:extLst>
          </p:cNvPr>
          <p:cNvSpPr/>
          <p:nvPr/>
        </p:nvSpPr>
        <p:spPr>
          <a:xfrm rot="5400000">
            <a:off x="11314348" y="392487"/>
            <a:ext cx="372503" cy="387885"/>
          </a:xfrm>
          <a:prstGeom prst="chevron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3A2C354-F7F7-4DC8-9F90-56738491C109}"/>
              </a:ext>
            </a:extLst>
          </p:cNvPr>
          <p:cNvSpPr txBox="1"/>
          <p:nvPr/>
        </p:nvSpPr>
        <p:spPr>
          <a:xfrm>
            <a:off x="38026" y="143215"/>
            <a:ext cx="1208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Conclusão:</a:t>
            </a:r>
          </a:p>
        </p:txBody>
      </p:sp>
    </p:spTree>
    <p:extLst>
      <p:ext uri="{BB962C8B-B14F-4D97-AF65-F5344CB8AC3E}">
        <p14:creationId xmlns:p14="http://schemas.microsoft.com/office/powerpoint/2010/main" val="2446664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AE7B3928-E666-4402-B643-D8038A651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2" y="557191"/>
            <a:ext cx="12110089" cy="1271609"/>
          </a:xfrm>
          <a:prstGeom prst="rect">
            <a:avLst/>
          </a:prstGeom>
        </p:spPr>
      </p:pic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93FFE375-43CC-4FCE-BA15-81FD36628D2E}"/>
              </a:ext>
            </a:extLst>
          </p:cNvPr>
          <p:cNvCxnSpPr>
            <a:cxnSpLocks/>
          </p:cNvCxnSpPr>
          <p:nvPr/>
        </p:nvCxnSpPr>
        <p:spPr>
          <a:xfrm>
            <a:off x="11248189" y="3833516"/>
            <a:ext cx="0" cy="2707105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295EE0F3-8D38-488A-B3BF-977C85DE2324}"/>
              </a:ext>
            </a:extLst>
          </p:cNvPr>
          <p:cNvCxnSpPr>
            <a:cxnSpLocks/>
          </p:cNvCxnSpPr>
          <p:nvPr/>
        </p:nvCxnSpPr>
        <p:spPr>
          <a:xfrm flipV="1">
            <a:off x="9254962" y="5331502"/>
            <a:ext cx="0" cy="5534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130A7032-81D6-4C30-ACC8-882D4863CB10}"/>
              </a:ext>
            </a:extLst>
          </p:cNvPr>
          <p:cNvCxnSpPr>
            <a:cxnSpLocks/>
          </p:cNvCxnSpPr>
          <p:nvPr/>
        </p:nvCxnSpPr>
        <p:spPr>
          <a:xfrm>
            <a:off x="10988007" y="3833516"/>
            <a:ext cx="0" cy="2707105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EA5A15D3-C21C-4915-81F0-CDC3CF40D4C6}"/>
              </a:ext>
            </a:extLst>
          </p:cNvPr>
          <p:cNvCxnSpPr>
            <a:cxnSpLocks/>
          </p:cNvCxnSpPr>
          <p:nvPr/>
        </p:nvCxnSpPr>
        <p:spPr>
          <a:xfrm flipV="1">
            <a:off x="9429417" y="5331502"/>
            <a:ext cx="0" cy="5534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9BC1303-5319-4297-BE18-1E39D5D4AC70}"/>
              </a:ext>
            </a:extLst>
          </p:cNvPr>
          <p:cNvCxnSpPr>
            <a:cxnSpLocks/>
          </p:cNvCxnSpPr>
          <p:nvPr/>
        </p:nvCxnSpPr>
        <p:spPr>
          <a:xfrm>
            <a:off x="11484810" y="3833517"/>
            <a:ext cx="0" cy="2707105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8A5166CC-6A8F-4AFB-8161-ABCB71A0C0FA}"/>
              </a:ext>
            </a:extLst>
          </p:cNvPr>
          <p:cNvCxnSpPr>
            <a:cxnSpLocks/>
          </p:cNvCxnSpPr>
          <p:nvPr/>
        </p:nvCxnSpPr>
        <p:spPr>
          <a:xfrm>
            <a:off x="11745494" y="3833518"/>
            <a:ext cx="0" cy="2707105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9036D67C-C71B-4C52-991B-83340C04A9B8}"/>
              </a:ext>
            </a:extLst>
          </p:cNvPr>
          <p:cNvCxnSpPr>
            <a:cxnSpLocks/>
          </p:cNvCxnSpPr>
          <p:nvPr/>
        </p:nvCxnSpPr>
        <p:spPr>
          <a:xfrm>
            <a:off x="8854988" y="4434979"/>
            <a:ext cx="12032" cy="6136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5213B574-D9A9-4CE7-83B7-A2748A0229EB}"/>
              </a:ext>
            </a:extLst>
          </p:cNvPr>
          <p:cNvCxnSpPr>
            <a:cxnSpLocks/>
          </p:cNvCxnSpPr>
          <p:nvPr/>
        </p:nvCxnSpPr>
        <p:spPr>
          <a:xfrm flipV="1">
            <a:off x="9075242" y="5331502"/>
            <a:ext cx="0" cy="5534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2127BD22-FDC1-4835-8757-B2122B9A9DF3}"/>
              </a:ext>
            </a:extLst>
          </p:cNvPr>
          <p:cNvCxnSpPr>
            <a:cxnSpLocks/>
          </p:cNvCxnSpPr>
          <p:nvPr/>
        </p:nvCxnSpPr>
        <p:spPr>
          <a:xfrm flipV="1">
            <a:off x="9650003" y="5331502"/>
            <a:ext cx="0" cy="5534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35D48B6F-68C0-43F3-9484-16C092273FEA}"/>
              </a:ext>
            </a:extLst>
          </p:cNvPr>
          <p:cNvCxnSpPr>
            <a:cxnSpLocks/>
          </p:cNvCxnSpPr>
          <p:nvPr/>
        </p:nvCxnSpPr>
        <p:spPr>
          <a:xfrm>
            <a:off x="9073470" y="4434979"/>
            <a:ext cx="12032" cy="6136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id="{7630F30A-E0D2-4BE1-AE3B-5C363B7E32C1}"/>
              </a:ext>
            </a:extLst>
          </p:cNvPr>
          <p:cNvCxnSpPr>
            <a:cxnSpLocks/>
          </p:cNvCxnSpPr>
          <p:nvPr/>
        </p:nvCxnSpPr>
        <p:spPr>
          <a:xfrm>
            <a:off x="9257645" y="4434979"/>
            <a:ext cx="12032" cy="6136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80C0B46F-34E2-469B-AF90-9C3007759E69}"/>
              </a:ext>
            </a:extLst>
          </p:cNvPr>
          <p:cNvCxnSpPr>
            <a:cxnSpLocks/>
          </p:cNvCxnSpPr>
          <p:nvPr/>
        </p:nvCxnSpPr>
        <p:spPr>
          <a:xfrm>
            <a:off x="9463994" y="4440305"/>
            <a:ext cx="12032" cy="6136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E3F8FB7B-9A5E-458D-8366-596A32FA68FA}"/>
              </a:ext>
            </a:extLst>
          </p:cNvPr>
          <p:cNvCxnSpPr>
            <a:cxnSpLocks/>
          </p:cNvCxnSpPr>
          <p:nvPr/>
        </p:nvCxnSpPr>
        <p:spPr>
          <a:xfrm>
            <a:off x="9700614" y="4440305"/>
            <a:ext cx="12032" cy="6136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58D71487-1F2D-44B8-979F-0AACBF12D112}"/>
              </a:ext>
            </a:extLst>
          </p:cNvPr>
          <p:cNvCxnSpPr>
            <a:cxnSpLocks/>
          </p:cNvCxnSpPr>
          <p:nvPr/>
        </p:nvCxnSpPr>
        <p:spPr>
          <a:xfrm>
            <a:off x="10597482" y="3833515"/>
            <a:ext cx="0" cy="2707105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AB9369D8-7417-4A85-869A-AB14DFE3D7F7}"/>
              </a:ext>
            </a:extLst>
          </p:cNvPr>
          <p:cNvCxnSpPr>
            <a:cxnSpLocks/>
          </p:cNvCxnSpPr>
          <p:nvPr/>
        </p:nvCxnSpPr>
        <p:spPr>
          <a:xfrm flipV="1">
            <a:off x="8894267" y="5335089"/>
            <a:ext cx="0" cy="5534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58178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318</Words>
  <Application>Microsoft Office PowerPoint</Application>
  <PresentationFormat>Widescreen</PresentationFormat>
  <Paragraphs>138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   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Thiago ®</dc:creator>
  <cp:lastModifiedBy>MARCELO TEIXEIRA DE AZEVEDO</cp:lastModifiedBy>
  <cp:revision>33</cp:revision>
  <dcterms:created xsi:type="dcterms:W3CDTF">2020-08-11T00:42:03Z</dcterms:created>
  <dcterms:modified xsi:type="dcterms:W3CDTF">2023-11-06T20:08:08Z</dcterms:modified>
</cp:coreProperties>
</file>